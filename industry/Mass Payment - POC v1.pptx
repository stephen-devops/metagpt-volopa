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5" r:id="rId4"/>
    <p:sldMasterId id="2147483867" r:id="rId5"/>
  </p:sldMasterIdLst>
  <p:notesMasterIdLst>
    <p:notesMasterId r:id="rId19"/>
  </p:notesMasterIdLst>
  <p:sldIdLst>
    <p:sldId id="257" r:id="rId6"/>
    <p:sldId id="289" r:id="rId7"/>
    <p:sldId id="290" r:id="rId8"/>
    <p:sldId id="272" r:id="rId9"/>
    <p:sldId id="292" r:id="rId10"/>
    <p:sldId id="293" r:id="rId11"/>
    <p:sldId id="294" r:id="rId12"/>
    <p:sldId id="295" r:id="rId13"/>
    <p:sldId id="2140754882" r:id="rId14"/>
    <p:sldId id="2140754881" r:id="rId15"/>
    <p:sldId id="2140754851" r:id="rId16"/>
    <p:sldId id="2140754879" r:id="rId17"/>
    <p:sldId id="21407548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31AA30-CA3A-3BB5-73EB-E49EF2FF780B}" name="Shahnawaz Aziz" initials="SA" userId="S::shah@quantumgroup.uk::412d30e8-24c3-4d68-8f27-8d900eb5d3dd" providerId="AD"/>
  <p188:author id="{0082FF3D-7543-8801-2ED6-744CB25F7993}" name="Volopa O365 Admin" initials="VA" userId="S::volopao365admin@platinumps.onmicrosoft.com::78c4e793-0c8a-481b-ac4f-97743ab7db51" providerId="AD"/>
  <p188:author id="{60A8957C-CAFF-7DFA-62E8-A5E51378EC3E}" name="Payel Chakraborty" initials="PC" userId="S::payel.chakraborty@volopa.com::264e6721-2f2d-4e24-a220-7bae38a7189b" providerId="AD"/>
  <p188:author id="{3EC149A4-409B-A7BA-BCA4-83CF3DF665FE}" name="Alex Ceaki-Voitinovici" initials="AC" userId="S::alex.ceaki@volopa.com::c0351a05-02e1-4d2e-ab46-dee5af5be936" providerId="AD"/>
  <p188:author id="{A5F301F0-9683-676F-EB5D-9B4EEBA15315}" name="Carmen Palade" initials="CP" userId="S::carmen.palade@volopa.com::0dd1a55c-744d-404c-8899-ab8275f6b5f0" providerId="AD"/>
  <p188:author id="{43EAB4F5-0121-FE51-FB3C-3E55A49F4538}" name="Ali Albajati" initials="AA" userId="S::ali.albajati@volopa.com::3566d277-b909-4219-b595-383327d73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6" d="100"/>
          <a:sy n="226" d="100"/>
        </p:scale>
        <p:origin x="20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9E27D-CC2A-AE4E-AB13-CF42E58A3BCE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3677F-3568-A446-9226-730CA41B5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2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File Upload: Client’s Payee ID (so that the client can map Volopa’s payee ID to their internal Client Payee ID)</a:t>
            </a:r>
          </a:p>
          <a:p>
            <a:pPr marL="0" indent="0">
              <a:buNone/>
            </a:pPr>
            <a:endParaRPr lang="en-US"/>
          </a:p>
          <a:p>
            <a:pPr marL="228600" indent="-228600">
              <a:buAutoNum type="arabicPeriod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674F57-EE6C-4E60-9825-1D9B44FF8F9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190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CB78-D9D8-1866-E4E8-4B0774E4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78DCE-6B1D-D557-8995-680792889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306A3-5D01-FA63-FB96-B1B509130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FECBD-3AA4-2008-611B-9DA3AE453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EDE91-AB20-4C41-A8DD-28429862470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1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8CA4-42BE-D30F-E7CB-6EA54A1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ED986-FA09-B78C-3B5C-CCA0B7BEE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EB2E0-1B1B-DD88-232A-7D7385DA0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80501-592D-7FFF-E758-12B23ED08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EDE91-AB20-4C41-A8DD-28429862470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54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9EE0-7EBB-4C6F-F113-FCE32595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FD7B2-35E1-1E0C-9C06-B286D8430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6DACC-1391-3488-48DF-785FCEF3B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18470-5B0D-6D3B-C846-C80C327A1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EDE91-AB20-4C41-A8DD-28429862470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5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B77F-768A-D4BE-B9D9-B9F7F5897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35949-C52F-C9D6-AF64-AA6011AF9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D091F-074C-8B55-ACB8-C4E5025C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47A5E-4B36-400C-C0C8-B50E754E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4023-58E8-7E5B-EED3-91627D33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73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3379-9DBF-3284-9892-1FAA05831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3F3E-5E8B-4404-C3F5-1069E1A23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37B1-98E6-9442-BA84-02F42413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5EA71-AE0F-1E87-6C43-885319D8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0A06-9B8E-B7B7-8142-780838ED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5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8644-03C3-4432-72ED-955E40A1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65BB8-5779-430D-3993-ADE873017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59B07-FF5B-3999-C638-F0B15872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EC74-718D-037C-14E2-DCA7FEB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6CA60-2284-A8CC-603D-4B8916E9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1263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12C2-7168-0FEF-32E5-581E100E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A56B-64F4-7147-CF04-86EA3E176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1E6C-0FA9-9892-142F-D1A79F6D6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907C9-15FD-643A-8AB4-81990D99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5BCC7-EECC-D98C-0A2A-8AA7FD0C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BA324-C6ED-41B7-9817-EAEF4D12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4989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EA64-A3B3-F20E-BEE3-F1D76ED6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D2A52-D07A-33D6-C533-7AF165451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AE302-C52D-B4FA-26A5-A3BE41DC6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052C5-0577-77DA-8EF8-731EC4BF9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66198-9192-C30E-FF9F-C676EA723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5C1A1-662B-0593-C4FB-90AF50F4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7B2D6-186B-878E-2C36-B6C76C3A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215B9-D966-15AD-1241-B724FC24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47431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B2C4-8C9E-4772-4E8F-9661DED0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77974-CD39-FBF1-6E25-DA54442D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641B3-D10C-7861-FABF-C316A43A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298E3-64C5-DC0B-4CD8-FFAB2752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92614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B5B45-30FA-6098-67C4-0CA61CFB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7669E-B1EA-2803-92B2-A9FE11D7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4CDB7-BC8D-4FD8-4A58-FA8DA442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0583-C92F-FFF2-E0D3-6FEC7447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EE82-5E06-E36F-D56E-2B1D1DDFE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F62B6-FDBB-D2FD-ED22-3C272154F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AABA5-DDEE-950D-8517-DEB05002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BAEAA-4C1D-67B7-01B9-0CAFDEF1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D76AC-A2F1-0203-C754-EA5653A8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18037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3459-DE8F-6D00-A32E-4C833C7ED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CBA64-3279-C68A-1B54-EE05AD3F9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C40C1-208A-89B0-0A5E-1B9F3DCC2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E8C8B-98F2-9BF5-D339-A329E5EF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CC06C-1B8A-5483-9D25-B14E7AD9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878E6-2F75-6F06-0196-4D7C41A0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8293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57B6-8A30-5C6E-C66B-0BD2DF39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CF3BD-DE0B-F577-B736-71EFFA2F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0856C-6B7B-43E8-D0DB-97028276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C5DAA-BFA4-8CFD-E226-A384B9DD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996E4-6218-6F8B-970E-153F3FA3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8742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9990B-822F-1942-622D-DF7376299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063FA-F623-D8C9-9F75-69B2D2F08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37DC-CE6E-A332-79CE-3A823B47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4E71F-D5EC-5145-8CFB-258B4ED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6B95-FBC5-BE48-EE68-E3F9C35A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01424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A4618-F477-47D1-9D30-DD8231C213BA}"/>
              </a:ext>
            </a:extLst>
          </p:cNvPr>
          <p:cNvSpPr/>
          <p:nvPr userDrawn="1"/>
        </p:nvSpPr>
        <p:spPr>
          <a:xfrm>
            <a:off x="7237046" y="0"/>
            <a:ext cx="413727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FF4F1-1A44-4691-A3C2-47A8ECD7E2A1}"/>
              </a:ext>
            </a:extLst>
          </p:cNvPr>
          <p:cNvSpPr/>
          <p:nvPr userDrawn="1"/>
        </p:nvSpPr>
        <p:spPr>
          <a:xfrm>
            <a:off x="7237047" y="0"/>
            <a:ext cx="4954954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8711" y="2434552"/>
            <a:ext cx="3905607" cy="1397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EBFDB-75DB-4056-AC40-8972B2C00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17554" y="92075"/>
            <a:ext cx="664972" cy="5937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A523F-0F1D-43CC-9A69-014CA43DDDBF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0018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BA4618-F477-47D1-9D30-DD8231C213BA}"/>
              </a:ext>
            </a:extLst>
          </p:cNvPr>
          <p:cNvSpPr/>
          <p:nvPr userDrawn="1"/>
        </p:nvSpPr>
        <p:spPr>
          <a:xfrm>
            <a:off x="7237046" y="0"/>
            <a:ext cx="413727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FF4F1-1A44-4691-A3C2-47A8ECD7E2A1}"/>
              </a:ext>
            </a:extLst>
          </p:cNvPr>
          <p:cNvSpPr/>
          <p:nvPr userDrawn="1"/>
        </p:nvSpPr>
        <p:spPr>
          <a:xfrm>
            <a:off x="7237047" y="0"/>
            <a:ext cx="4954954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8711" y="2434552"/>
            <a:ext cx="3905607" cy="1397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EBFDB-75DB-4056-AC40-8972B2C00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17554" y="92075"/>
            <a:ext cx="664972" cy="5937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A523F-0F1D-43CC-9A69-014CA43DDDBF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9764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794" y="-137872"/>
            <a:ext cx="9692640" cy="13971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794" y="1668463"/>
            <a:ext cx="8595360" cy="4351337"/>
          </a:xfrm>
        </p:spPr>
        <p:txBody>
          <a:bodyPr/>
          <a:lstStyle>
            <a:lvl1pPr marL="182880" indent="-182880">
              <a:buClrTx/>
              <a:buFont typeface="Arial" panose="020B0604020202020204" pitchFamily="34" charset="0"/>
              <a:buChar char="•"/>
              <a:defRPr/>
            </a:lvl1pPr>
            <a:lvl2pPr marL="457200" indent="-182880">
              <a:buClrTx/>
              <a:buFont typeface="Arial" panose="020B0604020202020204" pitchFamily="34" charset="0"/>
              <a:buChar char="•"/>
              <a:defRPr/>
            </a:lvl2pPr>
            <a:lvl3pPr marL="731520" indent="-182880">
              <a:buClrTx/>
              <a:buFont typeface="Arial" panose="020B0604020202020204" pitchFamily="34" charset="0"/>
              <a:buChar char="•"/>
              <a:defRPr/>
            </a:lvl3pPr>
            <a:lvl4pPr marL="1005840" indent="-182880">
              <a:buClrTx/>
              <a:buFont typeface="Arial" panose="020B0604020202020204" pitchFamily="34" charset="0"/>
              <a:buChar char="•"/>
              <a:defRPr/>
            </a:lvl4pPr>
            <a:lvl5pPr marL="1280160" indent="-182880">
              <a:buClr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337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  <a:latin typeface="Abadi Extra Light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  <a:latin typeface="Abadi Extra Light" panose="020B0204020104020204" pitchFamily="34" charset="0"/>
              </a:defRPr>
            </a:lvl1pPr>
          </a:lstStyle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311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7AC7-9AF0-870C-CEB2-12F55CB9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BB3F-74F2-D78D-40D2-7DE4F6C15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07AA1-DDB5-7BE3-D545-84F6F4692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50356-BFDA-42F8-9560-1D522EB54A9A}" type="datetimeFigureOut">
              <a:rPr lang="en-GB" smtClean="0"/>
              <a:t>04/09/2025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102FF-9CAE-ABA3-3684-AF2FC5FA0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614D9-D61E-6B0F-5B57-56192EEC4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FF5A65-FEE4-0126-7E17-7DE988B512BD}"/>
              </a:ext>
            </a:extLst>
          </p:cNvPr>
          <p:cNvSpPr/>
          <p:nvPr userDrawn="1"/>
        </p:nvSpPr>
        <p:spPr>
          <a:xfrm>
            <a:off x="11371385" y="0"/>
            <a:ext cx="820615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7F9EA-4F41-5FE5-CC70-F0479D3DE32A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17BA92-D424-3503-B395-C419F6F6128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417554" y="92075"/>
            <a:ext cx="664972" cy="5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66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CE3D87-349F-4102-8E54-BF8B09640BEF}"/>
              </a:ext>
            </a:extLst>
          </p:cNvPr>
          <p:cNvSpPr/>
          <p:nvPr userDrawn="1"/>
        </p:nvSpPr>
        <p:spPr>
          <a:xfrm>
            <a:off x="11371385" y="0"/>
            <a:ext cx="820615" cy="6858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lang="en-GB" sz="200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badi Extra Light" panose="020B0204020104020204" pitchFamily="34" charset="0"/>
              </a:defRPr>
            </a:lvl1pPr>
          </a:lstStyle>
          <a:p>
            <a:fld id="{2F9A1732-3089-4225-AD0E-B9BFE7E4C6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C21C3-16B4-451A-91FB-E01779B9BE10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78E9A-6427-49BC-8BA1-D5576E9D756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17554" y="92075"/>
            <a:ext cx="664972" cy="5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7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tx2">
              <a:lumMod val="50000"/>
            </a:schemeClr>
          </a:solidFill>
          <a:latin typeface="Abadi Extra Light" panose="020B0204020104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bg2"/>
          </a:solidFill>
          <a:latin typeface="Abadi Extra Light" panose="020B0204020104020204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bg2"/>
          </a:solidFill>
          <a:latin typeface="Abadi Extra Light" panose="020B0204020104020204" pitchFamily="34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bg2"/>
          </a:solidFill>
          <a:latin typeface="Abadi Extra Light" panose="020B0204020104020204" pitchFamily="34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bg2"/>
          </a:solidFill>
          <a:latin typeface="Abadi Extra Light" panose="020B0204020104020204" pitchFamily="34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bg2"/>
          </a:solidFill>
          <a:latin typeface="Abadi Extra Light" panose="020B0204020104020204" pitchFamily="34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9ECA-2F4E-46BF-84B1-DE24F6734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355" y="2284476"/>
            <a:ext cx="10804635" cy="2289048"/>
          </a:xfrm>
        </p:spPr>
        <p:txBody>
          <a:bodyPr>
            <a:normAutofit/>
          </a:bodyPr>
          <a:lstStyle/>
          <a:p>
            <a:r>
              <a:rPr lang="en-US"/>
              <a:t>Mass Payments</a:t>
            </a:r>
            <a:br>
              <a:rPr lang="en-US"/>
            </a:br>
            <a:r>
              <a:rPr lang="en-US" sz="4400"/>
              <a:t>POC</a:t>
            </a:r>
            <a:endParaRPr lang="en-GB" sz="7200"/>
          </a:p>
        </p:txBody>
      </p:sp>
    </p:spTree>
    <p:extLst>
      <p:ext uri="{BB962C8B-B14F-4D97-AF65-F5344CB8AC3E}">
        <p14:creationId xmlns:p14="http://schemas.microsoft.com/office/powerpoint/2010/main" val="1744105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B232-ADBA-0FB4-FD4E-CEC7E795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10B068-839E-85EE-3C20-3A293273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4" y="203200"/>
            <a:ext cx="9692640" cy="674255"/>
          </a:xfrm>
        </p:spPr>
        <p:txBody>
          <a:bodyPr>
            <a:normAutofit fontScale="90000"/>
          </a:bodyPr>
          <a:lstStyle/>
          <a:p>
            <a:r>
              <a:rPr lang="en-US"/>
              <a:t>Payments Mass Payments - Overview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193FF-5DA8-5B5A-9638-E077672FFB6D}"/>
              </a:ext>
            </a:extLst>
          </p:cNvPr>
          <p:cNvSpPr txBox="1"/>
          <p:nvPr/>
        </p:nvSpPr>
        <p:spPr>
          <a:xfrm>
            <a:off x="868218" y="1117600"/>
            <a:ext cx="10150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Objective: Give clients to ability to process large payment runs through the Volopa business platform, such as a payments file of 5,000 to 15,000 payments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Location: Payments &gt;&gt; Batch Payments &gt;&gt; File Uploads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Tasks: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Upload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Impacted Sections: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Admin.volopa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UI – New journey to download templates and upload payments files</a:t>
            </a:r>
          </a:p>
        </p:txBody>
      </p:sp>
    </p:spTree>
    <p:extLst>
      <p:ext uri="{BB962C8B-B14F-4D97-AF65-F5344CB8AC3E}">
        <p14:creationId xmlns:p14="http://schemas.microsoft.com/office/powerpoint/2010/main" val="367772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EA450-4F8F-62CF-DAEB-85698B73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92225-FFA2-C62C-A0CC-1E6ED96E8298}"/>
              </a:ext>
            </a:extLst>
          </p:cNvPr>
          <p:cNvSpPr txBox="1"/>
          <p:nvPr/>
        </p:nvSpPr>
        <p:spPr>
          <a:xfrm>
            <a:off x="1186871" y="149066"/>
            <a:ext cx="7364053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1. Download CSV with Latest List of Recipients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Feature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Provide a button for clients to download the latest CSV file containing recipient details.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 Can download a list of recipients per currency (1 currency at a time)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Content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The CSV should include up-to-date recipient information such as Recipient ID, name, bank country, account currency, and email addresses.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2. CSV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Feature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Generate a CSV template pre-filled with the client’s recipient details.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Columns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Recipient ID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Client Recipient ID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Recipient Name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Recipient Bank Country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Recipient Account Currency (1 currency)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Available Settlement Methods (Values: Priority ; Regular ; Priority and Regular)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Recipient Email Address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CC Email Address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Payment Amount (blank for client input)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Settlement Method </a:t>
            </a:r>
            <a:r>
              <a:rPr kumimoji="0" lang="en-GB" sz="1000" b="0" i="0" u="none" strike="sng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(dropdown: Priority, Regular)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Payment Reason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Payments Reference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Purpose of Payment Code </a:t>
            </a:r>
            <a:r>
              <a:rPr kumimoji="0" lang="en-GB" sz="1000" b="0" i="0" u="none" strike="sng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(dropdown, dependent on Bank Country and Account Currency)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Invoice Number (required if Account Currency is INR)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Invoice Date (required if Account Currency is INR)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err="1">
                <a:ln>
                  <a:noFill/>
                </a:ln>
                <a:solidFill>
                  <a:srgbClr val="232425"/>
                </a:solidFill>
                <a:effectLst/>
                <a:highlight>
                  <a:srgbClr val="FFFF00"/>
                </a:highlight>
                <a:uLnTx/>
                <a:uFillTx/>
                <a:latin typeface="Abadi Extra Light"/>
                <a:ea typeface="+mn-ea"/>
                <a:cs typeface="+mn-cs"/>
              </a:rPr>
              <a:t>Incorporation_number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highlight>
                  <a:srgbClr val="FFFF00"/>
                </a:highlight>
                <a:uLnTx/>
                <a:uFillTx/>
                <a:latin typeface="Abadi Extra Light"/>
                <a:ea typeface="+mn-ea"/>
                <a:cs typeface="+mn-cs"/>
              </a:rPr>
              <a:t> (added for business Recipients with TRY 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Rows: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CSV should allow up to 10,000 rows (i.e. payments) per file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3. Drag and Drop Box for Upload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Feature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Implement a drag-and-drop box or an upload button for the client to upload the completed payments 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Functionality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Allow clients to upload the filled CSV file for processing.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4. File Validation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Feature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 Validate the uploaded file for formatting errors and value errors.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Checks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Correct file format (CSV).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Presence of required fields/columns/file structure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Does not exceed the maximum number of payments – 10,000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Valid data entries (e.g., proper email format, valid country &amp; currency codes, Purpose codes, payment types etc)</a:t>
            </a:r>
          </a:p>
        </p:txBody>
      </p:sp>
    </p:spTree>
    <p:extLst>
      <p:ext uri="{BB962C8B-B14F-4D97-AF65-F5344CB8AC3E}">
        <p14:creationId xmlns:p14="http://schemas.microsoft.com/office/powerpoint/2010/main" val="298209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6ACA-15A7-44DD-909F-2412332F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Lofi</a:t>
            </a:r>
            <a:r>
              <a:rPr lang="en-US"/>
              <a:t> Wire Frames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7C9A80-D114-4B04-88BB-6FC2C358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54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78188-DBC6-6458-3498-93B8B242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1E4B5-4C33-2B7E-F79E-2C65B22D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11" y="1364437"/>
            <a:ext cx="9956800" cy="2521763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4D6BD89D-11C2-1126-75EA-18EB5923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4" y="203200"/>
            <a:ext cx="9692640" cy="674255"/>
          </a:xfrm>
        </p:spPr>
        <p:txBody>
          <a:bodyPr>
            <a:normAutofit fontScale="90000"/>
          </a:bodyPr>
          <a:lstStyle/>
          <a:p>
            <a:r>
              <a:rPr lang="en-US"/>
              <a:t>Payments File Upload - Location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387CBF-75FB-4681-3FDE-992B00784486}"/>
              </a:ext>
            </a:extLst>
          </p:cNvPr>
          <p:cNvSpPr/>
          <p:nvPr/>
        </p:nvSpPr>
        <p:spPr>
          <a:xfrm>
            <a:off x="2540000" y="2235200"/>
            <a:ext cx="125614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Upload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pic>
        <p:nvPicPr>
          <p:cNvPr id="10" name="Graphic 9" descr="Upload outline">
            <a:extLst>
              <a:ext uri="{FF2B5EF4-FFF2-40B4-BE49-F238E27FC236}">
                <a16:creationId xmlns:a16="http://schemas.microsoft.com/office/drawing/2014/main" id="{5BC6D82A-5308-50F4-1527-2125E9339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2472" y="2269718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4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BD63-0316-8A86-0016-E06FADCB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E41FD9-E160-729E-B18E-6A94E66EF96E}"/>
              </a:ext>
            </a:extLst>
          </p:cNvPr>
          <p:cNvSpPr/>
          <p:nvPr/>
        </p:nvSpPr>
        <p:spPr>
          <a:xfrm>
            <a:off x="1131456" y="1842891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8C89-54CF-9623-9DD5-74AEC4B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D8635-78E0-D9B5-01C7-8CBDE0BC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79"/>
          <a:stretch/>
        </p:blipFill>
        <p:spPr>
          <a:xfrm>
            <a:off x="851593" y="877455"/>
            <a:ext cx="9956800" cy="840283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BE5405D5-ACA4-D275-25BE-2E6DFABA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4" y="203200"/>
            <a:ext cx="9692640" cy="674255"/>
          </a:xfrm>
        </p:spPr>
        <p:txBody>
          <a:bodyPr>
            <a:normAutofit fontScale="90000"/>
          </a:bodyPr>
          <a:lstStyle/>
          <a:p>
            <a:r>
              <a:rPr lang="en-US"/>
              <a:t>Payments File Upload – Journey 1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5ED595-84F1-FEB5-E4BA-908918F66F1C}"/>
              </a:ext>
            </a:extLst>
          </p:cNvPr>
          <p:cNvSpPr/>
          <p:nvPr/>
        </p:nvSpPr>
        <p:spPr>
          <a:xfrm>
            <a:off x="1579417" y="1842891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Download file template here: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9D4475-9CA3-FE57-4A6D-D3FA6F2B0990}"/>
              </a:ext>
            </a:extLst>
          </p:cNvPr>
          <p:cNvSpPr/>
          <p:nvPr/>
        </p:nvSpPr>
        <p:spPr>
          <a:xfrm>
            <a:off x="1133302" y="1331658"/>
            <a:ext cx="1351280" cy="223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Upload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D73A65-52F2-E791-C0C1-1C6EB6B8D04B}"/>
              </a:ext>
            </a:extLst>
          </p:cNvPr>
          <p:cNvSpPr/>
          <p:nvPr/>
        </p:nvSpPr>
        <p:spPr>
          <a:xfrm>
            <a:off x="4016895" y="2284272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Download payments file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4F3C5C-5724-16AB-07C8-40F87EA63658}"/>
              </a:ext>
            </a:extLst>
          </p:cNvPr>
          <p:cNvSpPr/>
          <p:nvPr/>
        </p:nvSpPr>
        <p:spPr>
          <a:xfrm>
            <a:off x="1131456" y="3120281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11E0D6-43FF-D201-F1A4-B4A5DDEF4B13}"/>
              </a:ext>
            </a:extLst>
          </p:cNvPr>
          <p:cNvSpPr/>
          <p:nvPr/>
        </p:nvSpPr>
        <p:spPr>
          <a:xfrm>
            <a:off x="1579417" y="3120281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Fill in the template with the payments information. For a guide on how to fill your payments file template, please refer to this user guide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5C71CC-F80A-2CFE-65E5-04F06A4FFA83}"/>
              </a:ext>
            </a:extLst>
          </p:cNvPr>
          <p:cNvSpPr/>
          <p:nvPr/>
        </p:nvSpPr>
        <p:spPr>
          <a:xfrm>
            <a:off x="4016895" y="3561662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Completing the file upload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5FFAB3-191E-6CCA-3D65-12FAF4AFD5BA}"/>
              </a:ext>
            </a:extLst>
          </p:cNvPr>
          <p:cNvSpPr/>
          <p:nvPr/>
        </p:nvSpPr>
        <p:spPr>
          <a:xfrm>
            <a:off x="1131456" y="4360727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4F75F-F360-D16E-32C1-4E01640D107B}"/>
              </a:ext>
            </a:extLst>
          </p:cNvPr>
          <p:cNvSpPr/>
          <p:nvPr/>
        </p:nvSpPr>
        <p:spPr>
          <a:xfrm>
            <a:off x="1579417" y="4360727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Upload your completed payments file for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446D39-0EA9-BD92-271A-371B4C76428F}"/>
              </a:ext>
            </a:extLst>
          </p:cNvPr>
          <p:cNvSpPr/>
          <p:nvPr/>
        </p:nvSpPr>
        <p:spPr>
          <a:xfrm>
            <a:off x="1154547" y="5556836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01FBCE-1327-325F-74B6-5D02BB601C28}"/>
              </a:ext>
            </a:extLst>
          </p:cNvPr>
          <p:cNvSpPr/>
          <p:nvPr/>
        </p:nvSpPr>
        <p:spPr>
          <a:xfrm>
            <a:off x="1625602" y="5555737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Review your file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D2AF3A-A2D6-AC50-F385-F44B0B699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455" y="4669909"/>
            <a:ext cx="7077075" cy="70485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86EDE7-CB8F-6C16-3231-9EC577776D76}"/>
              </a:ext>
            </a:extLst>
          </p:cNvPr>
          <p:cNvSpPr/>
          <p:nvPr/>
        </p:nvSpPr>
        <p:spPr>
          <a:xfrm>
            <a:off x="4016895" y="5910173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Review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92652-6E82-4891-48DA-15AE5B366DEC}"/>
              </a:ext>
            </a:extLst>
          </p:cNvPr>
          <p:cNvSpPr/>
          <p:nvPr/>
        </p:nvSpPr>
        <p:spPr>
          <a:xfrm>
            <a:off x="3238499" y="2284272"/>
            <a:ext cx="637077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CCY   v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8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A898-EDD4-15EF-4013-5116FF06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6CE01E-6312-CEDD-C975-1F1D5EEE9375}"/>
              </a:ext>
            </a:extLst>
          </p:cNvPr>
          <p:cNvSpPr/>
          <p:nvPr/>
        </p:nvSpPr>
        <p:spPr>
          <a:xfrm>
            <a:off x="1131456" y="1842891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DFBBB-F11F-EFCF-D381-A6B843B1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4FE2A-082D-404F-1293-3D8548B6BA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679"/>
          <a:stretch/>
        </p:blipFill>
        <p:spPr>
          <a:xfrm>
            <a:off x="851593" y="877455"/>
            <a:ext cx="9956800" cy="840283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031C0EA8-B205-4120-5B18-61758C39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4" y="203200"/>
            <a:ext cx="9692640" cy="674255"/>
          </a:xfrm>
        </p:spPr>
        <p:txBody>
          <a:bodyPr>
            <a:normAutofit fontScale="90000"/>
          </a:bodyPr>
          <a:lstStyle/>
          <a:p>
            <a:r>
              <a:rPr lang="en-US"/>
              <a:t>Payments File Upload – Journey 2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9F0775-76E6-094C-7F4F-C781B0C9582C}"/>
              </a:ext>
            </a:extLst>
          </p:cNvPr>
          <p:cNvSpPr/>
          <p:nvPr/>
        </p:nvSpPr>
        <p:spPr>
          <a:xfrm>
            <a:off x="1579417" y="1842891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Download file template here: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B4B867-5197-BA3F-583D-6EDA7C833516}"/>
              </a:ext>
            </a:extLst>
          </p:cNvPr>
          <p:cNvSpPr/>
          <p:nvPr/>
        </p:nvSpPr>
        <p:spPr>
          <a:xfrm>
            <a:off x="1133302" y="1331658"/>
            <a:ext cx="1351280" cy="223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Upload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18EB88-3695-6E23-6B48-78BB0BDD682F}"/>
              </a:ext>
            </a:extLst>
          </p:cNvPr>
          <p:cNvSpPr/>
          <p:nvPr/>
        </p:nvSpPr>
        <p:spPr>
          <a:xfrm>
            <a:off x="4016895" y="2284272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Download file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B83476-44AB-4990-E925-1FA2E685DB72}"/>
              </a:ext>
            </a:extLst>
          </p:cNvPr>
          <p:cNvSpPr/>
          <p:nvPr/>
        </p:nvSpPr>
        <p:spPr>
          <a:xfrm>
            <a:off x="1131456" y="3120281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2E7531-AA26-D443-174C-CC3B4444991A}"/>
              </a:ext>
            </a:extLst>
          </p:cNvPr>
          <p:cNvSpPr/>
          <p:nvPr/>
        </p:nvSpPr>
        <p:spPr>
          <a:xfrm>
            <a:off x="1579417" y="3120281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Fill in the template with the payments information. For a guide on how to fill your payments file template, please refer to this user guide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6265F8-5EE6-95C3-8FA4-0128D4E6FF3B}"/>
              </a:ext>
            </a:extLst>
          </p:cNvPr>
          <p:cNvSpPr/>
          <p:nvPr/>
        </p:nvSpPr>
        <p:spPr>
          <a:xfrm>
            <a:off x="4016895" y="3561662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Completing the file upload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89B6A2-AF83-9563-014F-B22D13E77AE1}"/>
              </a:ext>
            </a:extLst>
          </p:cNvPr>
          <p:cNvSpPr/>
          <p:nvPr/>
        </p:nvSpPr>
        <p:spPr>
          <a:xfrm>
            <a:off x="1131456" y="4360727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65A603-1CB9-64F3-AE41-95C207DA996F}"/>
              </a:ext>
            </a:extLst>
          </p:cNvPr>
          <p:cNvSpPr/>
          <p:nvPr/>
        </p:nvSpPr>
        <p:spPr>
          <a:xfrm>
            <a:off x="1579417" y="4360727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Upload your completed payments file for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21AE4A-37D4-C071-CA09-CF3B1EFFB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2" y="5667554"/>
            <a:ext cx="7077075" cy="70485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6AA6F9-80DC-F07F-194D-821CD772F416}"/>
              </a:ext>
            </a:extLst>
          </p:cNvPr>
          <p:cNvSpPr/>
          <p:nvPr/>
        </p:nvSpPr>
        <p:spPr>
          <a:xfrm>
            <a:off x="1154547" y="5556836"/>
            <a:ext cx="549562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4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AF44BE-850F-F32C-B25F-1E1994A7A3B3}"/>
              </a:ext>
            </a:extLst>
          </p:cNvPr>
          <p:cNvSpPr/>
          <p:nvPr/>
        </p:nvSpPr>
        <p:spPr>
          <a:xfrm>
            <a:off x="1602508" y="5556836"/>
            <a:ext cx="9228975" cy="109912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Review your file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DFD6D3-D869-0542-2DC9-888B9D69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55" y="4669909"/>
            <a:ext cx="7077075" cy="70485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ED65C0-3AC0-7A7A-63AE-9B36288AEFFF}"/>
              </a:ext>
            </a:extLst>
          </p:cNvPr>
          <p:cNvSpPr/>
          <p:nvPr/>
        </p:nvSpPr>
        <p:spPr>
          <a:xfrm>
            <a:off x="4016895" y="5910173"/>
            <a:ext cx="2402378" cy="468637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Review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0E8656-10FB-C73F-0397-27D1FA3FBFA6}"/>
              </a:ext>
            </a:extLst>
          </p:cNvPr>
          <p:cNvSpPr/>
          <p:nvPr/>
        </p:nvSpPr>
        <p:spPr>
          <a:xfrm>
            <a:off x="3042457" y="2391993"/>
            <a:ext cx="4771506" cy="3735528"/>
          </a:xfrm>
          <a:prstGeom prst="roundRect">
            <a:avLst>
              <a:gd name="adj" fmla="val 4062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Reviewing your payments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B588C2-4115-022F-3012-A5E73715E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786" y="3247090"/>
            <a:ext cx="1984656" cy="198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2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1D92F-B79D-8EDC-A2C4-3775508A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1E7E9-3500-5549-D6DD-43116CAF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9A1732-3089-4225-AD0E-B9BFE7E4C638}" type="slidenum"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0000"/>
                    <a:lumOff val="40000"/>
                  </a:srgbClr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0000"/>
                  <a:lumOff val="40000"/>
                </a:srgbClr>
              </a:solidFill>
              <a:effectLst/>
              <a:uLnTx/>
              <a:uFillTx/>
              <a:latin typeface="Abadi Extra Light" panose="020B0204020104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3429B-A1A4-63B5-7376-35079A585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679"/>
          <a:stretch/>
        </p:blipFill>
        <p:spPr>
          <a:xfrm>
            <a:off x="851593" y="877455"/>
            <a:ext cx="9956800" cy="840283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43AAEB29-47B4-5D9A-C942-C070BD38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4" y="203200"/>
            <a:ext cx="9692640" cy="674255"/>
          </a:xfrm>
        </p:spPr>
        <p:txBody>
          <a:bodyPr>
            <a:normAutofit fontScale="90000"/>
          </a:bodyPr>
          <a:lstStyle/>
          <a:p>
            <a:r>
              <a:rPr lang="en-US"/>
              <a:t>Payments File Upload – Journey 3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18EBFB-EB61-8ADE-2C53-1516064DFDD1}"/>
              </a:ext>
            </a:extLst>
          </p:cNvPr>
          <p:cNvSpPr/>
          <p:nvPr/>
        </p:nvSpPr>
        <p:spPr>
          <a:xfrm>
            <a:off x="851593" y="1799018"/>
            <a:ext cx="9956799" cy="4531028"/>
          </a:xfrm>
          <a:prstGeom prst="roundRect">
            <a:avLst>
              <a:gd name="adj" fmla="val 1773"/>
            </a:avLst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Your payments file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CE37DB-F4E2-F9C3-6A34-9D6430FD01EE}"/>
              </a:ext>
            </a:extLst>
          </p:cNvPr>
          <p:cNvSpPr/>
          <p:nvPr/>
        </p:nvSpPr>
        <p:spPr>
          <a:xfrm>
            <a:off x="1133302" y="1331658"/>
            <a:ext cx="1351280" cy="223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Upload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DF349-7169-CA75-B43C-84DFB1306581}"/>
              </a:ext>
            </a:extLst>
          </p:cNvPr>
          <p:cNvSpPr txBox="1"/>
          <p:nvPr/>
        </p:nvSpPr>
        <p:spPr>
          <a:xfrm>
            <a:off x="969818" y="2216727"/>
            <a:ext cx="165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Format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373709-4908-2563-C9E4-F0F3EF8B93FE}"/>
              </a:ext>
            </a:extLst>
          </p:cNvPr>
          <p:cNvSpPr txBox="1"/>
          <p:nvPr/>
        </p:nvSpPr>
        <p:spPr>
          <a:xfrm>
            <a:off x="969818" y="2667340"/>
            <a:ext cx="165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Structure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EF76F9-BA42-CBD5-6968-7F7FE9A79CBD}"/>
              </a:ext>
            </a:extLst>
          </p:cNvPr>
          <p:cNvSpPr txBox="1"/>
          <p:nvPr/>
        </p:nvSpPr>
        <p:spPr>
          <a:xfrm>
            <a:off x="969817" y="3133163"/>
            <a:ext cx="165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File Summary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1ED53B-F1FA-C9FE-69D5-2AEA4775E08B}"/>
              </a:ext>
            </a:extLst>
          </p:cNvPr>
          <p:cNvSpPr txBox="1"/>
          <p:nvPr/>
        </p:nvSpPr>
        <p:spPr>
          <a:xfrm>
            <a:off x="959307" y="3467724"/>
            <a:ext cx="5378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Total Number of payments – 4,300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Breakdown:</a:t>
            </a:r>
          </a:p>
          <a:p>
            <a:pPr marL="1657350" marR="0" lvl="3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EUR – 4,250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	       Errored payments: 50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Click here to view which rows these errors occurred on</a:t>
            </a:r>
          </a:p>
        </p:txBody>
      </p:sp>
      <p:pic>
        <p:nvPicPr>
          <p:cNvPr id="26" name="Graphic 25" descr="Badge Tick with solid fill">
            <a:extLst>
              <a:ext uri="{FF2B5EF4-FFF2-40B4-BE49-F238E27FC236}">
                <a16:creationId xmlns:a16="http://schemas.microsoft.com/office/drawing/2014/main" id="{56FAAF5E-8D5F-B7C9-CD85-14EF06787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5043" y="2137479"/>
            <a:ext cx="512618" cy="512618"/>
          </a:xfrm>
          <a:prstGeom prst="rect">
            <a:avLst/>
          </a:prstGeom>
        </p:spPr>
      </p:pic>
      <p:pic>
        <p:nvPicPr>
          <p:cNvPr id="27" name="Graphic 26" descr="Badge Tick with solid fill">
            <a:extLst>
              <a:ext uri="{FF2B5EF4-FFF2-40B4-BE49-F238E27FC236}">
                <a16:creationId xmlns:a16="http://schemas.microsoft.com/office/drawing/2014/main" id="{2251FA7C-302D-6A85-AB3C-43063DFDC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5043" y="2620545"/>
            <a:ext cx="512618" cy="512618"/>
          </a:xfrm>
          <a:prstGeom prst="rect">
            <a:avLst/>
          </a:prstGeom>
        </p:spPr>
      </p:pic>
      <p:pic>
        <p:nvPicPr>
          <p:cNvPr id="29" name="Graphic 28" descr="No sign with solid fill">
            <a:extLst>
              <a:ext uri="{FF2B5EF4-FFF2-40B4-BE49-F238E27FC236}">
                <a16:creationId xmlns:a16="http://schemas.microsoft.com/office/drawing/2014/main" id="{0459EAD7-67F6-1309-FE5A-AFF896658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4362" y="2122105"/>
            <a:ext cx="512618" cy="512618"/>
          </a:xfrm>
          <a:prstGeom prst="rect">
            <a:avLst/>
          </a:prstGeom>
        </p:spPr>
      </p:pic>
      <p:pic>
        <p:nvPicPr>
          <p:cNvPr id="30" name="Graphic 29" descr="No sign with solid fill">
            <a:extLst>
              <a:ext uri="{FF2B5EF4-FFF2-40B4-BE49-F238E27FC236}">
                <a16:creationId xmlns:a16="http://schemas.microsoft.com/office/drawing/2014/main" id="{980D5B5C-1133-9B61-6EC5-A12AE6F3F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0277" y="2620545"/>
            <a:ext cx="512618" cy="51261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5E46E09-8B94-A9FF-5CB1-D9C59BCE23E3}"/>
              </a:ext>
            </a:extLst>
          </p:cNvPr>
          <p:cNvSpPr/>
          <p:nvPr/>
        </p:nvSpPr>
        <p:spPr>
          <a:xfrm>
            <a:off x="8054109" y="6396182"/>
            <a:ext cx="1182255" cy="346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Cancel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8EA75E-1669-3B1F-1F9B-111BE47F0B57}"/>
              </a:ext>
            </a:extLst>
          </p:cNvPr>
          <p:cNvSpPr/>
          <p:nvPr/>
        </p:nvSpPr>
        <p:spPr>
          <a:xfrm>
            <a:off x="9626137" y="6396182"/>
            <a:ext cx="1182255" cy="346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32425"/>
                </a:solidFill>
                <a:effectLst/>
                <a:uLnTx/>
                <a:uFillTx/>
                <a:latin typeface="Abadi Extra Light"/>
                <a:ea typeface="+mn-ea"/>
                <a:cs typeface="+mn-cs"/>
              </a:rPr>
              <a:t>Proceed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232425"/>
              </a:solidFill>
              <a:effectLst/>
              <a:uLnTx/>
              <a:uFillTx/>
              <a:latin typeface="Abadi Extr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689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BBE4-CCAD-E3CF-4205-CE9759FF0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301625"/>
            <a:ext cx="10515600" cy="25008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From a technical perspective we would like to create a new service based on “</a:t>
            </a:r>
            <a:r>
              <a:rPr lang="en-US" sz="1400" dirty="0" err="1"/>
              <a:t>laravel</a:t>
            </a:r>
            <a:r>
              <a:rPr lang="en-US" sz="1400" dirty="0"/>
              <a:t>-microservice-template” repository.</a:t>
            </a:r>
          </a:p>
          <a:p>
            <a:pPr marL="0" indent="0">
              <a:buNone/>
            </a:pPr>
            <a:r>
              <a:rPr lang="en-US" sz="1400" dirty="0"/>
              <a:t>This service will:</a:t>
            </a:r>
          </a:p>
          <a:p>
            <a:r>
              <a:rPr lang="en-US" sz="1200" dirty="0"/>
              <a:t>Allow client to download a template csv generated based on </a:t>
            </a:r>
            <a:r>
              <a:rPr lang="en-US" sz="1200" dirty="0" err="1"/>
              <a:t>db</a:t>
            </a:r>
            <a:r>
              <a:rPr lang="en-US" sz="1200" dirty="0"/>
              <a:t> entries.</a:t>
            </a:r>
          </a:p>
          <a:p>
            <a:r>
              <a:rPr lang="en-US" sz="1200" dirty="0"/>
              <a:t>Allow the client to upload a file</a:t>
            </a:r>
          </a:p>
          <a:p>
            <a:r>
              <a:rPr lang="en-US" sz="1200" dirty="0"/>
              <a:t>Verify if it’s a CSV</a:t>
            </a:r>
          </a:p>
          <a:p>
            <a:r>
              <a:rPr lang="en-US" sz="1200" dirty="0"/>
              <a:t>Check if it respects the maximum row limit</a:t>
            </a:r>
          </a:p>
          <a:p>
            <a:r>
              <a:rPr lang="en-US" sz="1200" dirty="0"/>
              <a:t>Check if each field respect the column validation rules </a:t>
            </a:r>
          </a:p>
          <a:p>
            <a:r>
              <a:rPr lang="en-US" sz="1200" dirty="0"/>
              <a:t>Allow client to get the files list with their statuses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F4C3-B8B3-5A48-D8B1-E7DFBA3E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83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B0B6F-8BA7-E3A7-B329-334C6706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A1732-3089-4225-AD0E-B9BFE7E4C638}" type="slidenum">
              <a:rPr lang="en-GB" smtClean="0"/>
              <a:t>10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97BBB-5095-E9CF-27CA-FF04F47AD8BF}"/>
              </a:ext>
            </a:extLst>
          </p:cNvPr>
          <p:cNvSpPr/>
          <p:nvPr/>
        </p:nvSpPr>
        <p:spPr>
          <a:xfrm>
            <a:off x="4839532" y="4556268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err="1"/>
              <a:t>PaymentFileUpload</a:t>
            </a:r>
            <a:endParaRPr lang="en-GB" sz="1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E1D24F-1922-E210-3621-57FAAB264C18}"/>
              </a:ext>
            </a:extLst>
          </p:cNvPr>
          <p:cNvSpPr/>
          <p:nvPr/>
        </p:nvSpPr>
        <p:spPr>
          <a:xfrm>
            <a:off x="4839532" y="4935605"/>
            <a:ext cx="1677065" cy="16879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user_id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client_id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file_name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file_path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>
                <a:ea typeface="+mn-lt"/>
                <a:cs typeface="+mn-lt"/>
              </a:rPr>
              <a:t>currency</a:t>
            </a: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funding_currency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>
                <a:ea typeface="+mn-lt"/>
                <a:cs typeface="+mn-lt"/>
              </a:rPr>
              <a:t>summary</a:t>
            </a: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total_records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valid_records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failed_records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>
                <a:ea typeface="+mn-lt"/>
                <a:cs typeface="+mn-lt"/>
              </a:rPr>
              <a:t>status</a:t>
            </a: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uploaded_at</a:t>
            </a:r>
            <a:endParaRPr lang="en-GB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>
                <a:ea typeface="+mn-lt"/>
                <a:cs typeface="+mn-lt"/>
              </a:rPr>
              <a:t>completed_at</a:t>
            </a:r>
            <a:endParaRPr lang="en-GB">
              <a:ea typeface="+mn-lt"/>
              <a:cs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143D9-C3B8-7691-91F3-B5D5DAA0825C}"/>
              </a:ext>
            </a:extLst>
          </p:cNvPr>
          <p:cNvSpPr/>
          <p:nvPr/>
        </p:nvSpPr>
        <p:spPr>
          <a:xfrm>
            <a:off x="6623979" y="4546622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err="1"/>
              <a:t>PaymentUploadError</a:t>
            </a:r>
            <a:endParaRPr lang="en-GB" sz="1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0DB06-DBED-BCBC-FB29-9B9B3E713306}"/>
              </a:ext>
            </a:extLst>
          </p:cNvPr>
          <p:cNvSpPr/>
          <p:nvPr/>
        </p:nvSpPr>
        <p:spPr>
          <a:xfrm>
            <a:off x="6623979" y="4925959"/>
            <a:ext cx="1677065" cy="8345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payment_file_upload_id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row_number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header_name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provided_value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error_detail</a:t>
            </a:r>
            <a:endParaRPr lang="en-GB">
              <a:ea typeface="+mn-lt"/>
              <a:cs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C1329A-D798-86E9-447D-EFD72B5CC847}"/>
              </a:ext>
            </a:extLst>
          </p:cNvPr>
          <p:cNvSpPr/>
          <p:nvPr/>
        </p:nvSpPr>
        <p:spPr>
          <a:xfrm>
            <a:off x="8395251" y="4546622"/>
            <a:ext cx="2051078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err="1"/>
              <a:t>PaymentUploadInstruction</a:t>
            </a:r>
            <a:endParaRPr lang="en-GB" sz="1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2300DD-C65E-301B-AE9B-4990B2386B3C}"/>
              </a:ext>
            </a:extLst>
          </p:cNvPr>
          <p:cNvSpPr/>
          <p:nvPr/>
        </p:nvSpPr>
        <p:spPr>
          <a:xfrm>
            <a:off x="8395251" y="4925959"/>
            <a:ext cx="2051078" cy="1477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payment_file_upload_id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beneficiary_id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client_payee_id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cc_email_address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payment_amount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settlement_method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payment_reason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payments_reference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purpose_of_payment_code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invoice_number</a:t>
            </a:r>
            <a:endParaRPr lang="en-US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>
                <a:ea typeface="+mn-lt"/>
                <a:cs typeface="+mn-lt"/>
              </a:rPr>
              <a:t>invoice_date</a:t>
            </a:r>
            <a:endParaRPr lang="en-GB"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442D02-6029-90A5-EE48-21A4E35A968E}"/>
              </a:ext>
            </a:extLst>
          </p:cNvPr>
          <p:cNvSpPr/>
          <p:nvPr/>
        </p:nvSpPr>
        <p:spPr>
          <a:xfrm>
            <a:off x="1685718" y="2771344"/>
            <a:ext cx="3361451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/>
              <a:t>app/Services/</a:t>
            </a:r>
            <a:r>
              <a:rPr lang="en-GB" sz="1000" err="1"/>
              <a:t>PaymentCSVValidator.php</a:t>
            </a:r>
            <a:endParaRPr lang="en-GB" sz="1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37C31F-6C09-7E14-09F4-E0652741BCEB}"/>
              </a:ext>
            </a:extLst>
          </p:cNvPr>
          <p:cNvSpPr/>
          <p:nvPr/>
        </p:nvSpPr>
        <p:spPr>
          <a:xfrm>
            <a:off x="1685718" y="3150681"/>
            <a:ext cx="3361452" cy="799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800"/>
              <a:t>__construct(</a:t>
            </a:r>
            <a:r>
              <a:rPr lang="en-GB" sz="800" err="1"/>
              <a:t>PaymentFileUpload</a:t>
            </a:r>
            <a:r>
              <a:rPr lang="en-GB" sz="800"/>
              <a:t> $</a:t>
            </a:r>
            <a:r>
              <a:rPr lang="en-GB" sz="800" err="1"/>
              <a:t>paymentFileUpload</a:t>
            </a:r>
            <a:r>
              <a:rPr lang="en-GB" sz="80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/>
              <a:t>initializeValidators</a:t>
            </a:r>
            <a:r>
              <a:rPr lang="en-GB" sz="800"/>
              <a:t>():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/>
              <a:t>validateRow</a:t>
            </a:r>
            <a:r>
              <a:rPr lang="en-GB" sz="800"/>
              <a:t>(array $data, int $</a:t>
            </a:r>
            <a:r>
              <a:rPr lang="en-GB" sz="800" err="1"/>
              <a:t>rowNumber</a:t>
            </a:r>
            <a:r>
              <a:rPr lang="en-GB" sz="800"/>
              <a:t>): array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err="1"/>
              <a:t>logValidationError</a:t>
            </a:r>
            <a:r>
              <a:rPr lang="en-GB" sz="800"/>
              <a:t>(int $</a:t>
            </a:r>
            <a:r>
              <a:rPr lang="en-GB" sz="800" err="1"/>
              <a:t>rowNumber</a:t>
            </a:r>
            <a:r>
              <a:rPr lang="en-GB" sz="800"/>
              <a:t>, string $</a:t>
            </a:r>
            <a:r>
              <a:rPr lang="en-GB" sz="800" err="1"/>
              <a:t>headerName</a:t>
            </a:r>
            <a:r>
              <a:rPr lang="en-GB" sz="800"/>
              <a:t>, $</a:t>
            </a:r>
            <a:r>
              <a:rPr lang="en-GB" sz="800" err="1"/>
              <a:t>providedValue</a:t>
            </a:r>
            <a:r>
              <a:rPr lang="en-GB" sz="800"/>
              <a:t>, string $</a:t>
            </a:r>
            <a:r>
              <a:rPr lang="en-GB" sz="800" err="1"/>
              <a:t>errorMessage</a:t>
            </a:r>
            <a:r>
              <a:rPr lang="en-GB" sz="800"/>
              <a:t>): array</a:t>
            </a:r>
          </a:p>
          <a:p>
            <a:endParaRPr lang="en-GB" sz="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08F22-1F13-8714-0826-8AD2E4FF93B7}"/>
              </a:ext>
            </a:extLst>
          </p:cNvPr>
          <p:cNvSpPr/>
          <p:nvPr/>
        </p:nvSpPr>
        <p:spPr>
          <a:xfrm>
            <a:off x="2164819" y="1801365"/>
            <a:ext cx="2805758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/>
              <a:t>app/Jobs/</a:t>
            </a:r>
            <a:r>
              <a:rPr lang="en-GB" sz="1000" err="1"/>
              <a:t>ProcessCSV.php</a:t>
            </a:r>
            <a:endParaRPr lang="en-GB" sz="1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01619-87F0-A8A2-D9AF-1C51884F0AC9}"/>
              </a:ext>
            </a:extLst>
          </p:cNvPr>
          <p:cNvSpPr/>
          <p:nvPr/>
        </p:nvSpPr>
        <p:spPr>
          <a:xfrm>
            <a:off x="2164819" y="2180702"/>
            <a:ext cx="2805758" cy="272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800"/>
              <a:t>__construct(</a:t>
            </a:r>
            <a:r>
              <a:rPr lang="en-GB" sz="800" err="1"/>
              <a:t>PaymentFileUpload</a:t>
            </a:r>
            <a:r>
              <a:rPr lang="en-GB" sz="800"/>
              <a:t> $</a:t>
            </a:r>
            <a:r>
              <a:rPr lang="en-GB" sz="800" err="1"/>
              <a:t>paymentFileUpload</a:t>
            </a:r>
            <a:r>
              <a:rPr lang="en-GB" sz="80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6A35F4-9CDC-1F2F-0F9B-5BACE8EE6603}"/>
              </a:ext>
            </a:extLst>
          </p:cNvPr>
          <p:cNvSpPr/>
          <p:nvPr/>
        </p:nvSpPr>
        <p:spPr>
          <a:xfrm>
            <a:off x="5691609" y="2944230"/>
            <a:ext cx="3100576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/>
              <a:t>app/Exports/</a:t>
            </a:r>
            <a:r>
              <a:rPr lang="en-GB" sz="1000" err="1"/>
              <a:t>BeneficiariesTemplateExport.php</a:t>
            </a:r>
            <a:endParaRPr lang="en-GB" sz="1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47AFA1-7EE0-6CDA-FE15-EFC0B2D57C4E}"/>
              </a:ext>
            </a:extLst>
          </p:cNvPr>
          <p:cNvSpPr/>
          <p:nvPr/>
        </p:nvSpPr>
        <p:spPr>
          <a:xfrm>
            <a:off x="5691609" y="3323567"/>
            <a:ext cx="3100576" cy="272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/>
              <a:t>__construct(array $headers, array $data)</a:t>
            </a:r>
            <a:endParaRPr lang="en-GB" sz="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FBA50-1291-7C0D-F1BA-66F840F1F2AE}"/>
              </a:ext>
            </a:extLst>
          </p:cNvPr>
          <p:cNvSpPr/>
          <p:nvPr/>
        </p:nvSpPr>
        <p:spPr>
          <a:xfrm>
            <a:off x="3702189" y="730789"/>
            <a:ext cx="2051078" cy="3793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err="1">
                <a:solidFill>
                  <a:schemeClr val="tx1"/>
                </a:solidFill>
                <a:ea typeface="+mn-lt"/>
                <a:cs typeface="+mn-lt"/>
              </a:rPr>
              <a:t>UploadController</a:t>
            </a:r>
            <a:r>
              <a:rPr lang="en-GB" sz="100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EF15F-2092-122E-A0C6-644A649B936B}"/>
              </a:ext>
            </a:extLst>
          </p:cNvPr>
          <p:cNvSpPr/>
          <p:nvPr/>
        </p:nvSpPr>
        <p:spPr>
          <a:xfrm>
            <a:off x="3702189" y="1110126"/>
            <a:ext cx="2051078" cy="3633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</a:rPr>
              <a:t>uploadPaymentCSV</a:t>
            </a:r>
            <a:endParaRPr lang="en-US" sz="800" err="1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checkUploadStatus</a:t>
            </a:r>
            <a:endParaRPr lang="en-US" sz="80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44BF69-5322-6F40-26A5-927A1908A527}"/>
              </a:ext>
            </a:extLst>
          </p:cNvPr>
          <p:cNvSpPr/>
          <p:nvPr/>
        </p:nvSpPr>
        <p:spPr>
          <a:xfrm>
            <a:off x="5939961" y="730788"/>
            <a:ext cx="2051078" cy="3793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err="1">
                <a:solidFill>
                  <a:schemeClr val="tx1"/>
                </a:solidFill>
                <a:ea typeface="+mn-lt"/>
                <a:cs typeface="+mn-lt"/>
              </a:rPr>
              <a:t>FileController</a:t>
            </a:r>
            <a:endParaRPr lang="en-US" sz="1000" err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1ED0D8-AB7A-2524-072A-157D67D36A74}"/>
              </a:ext>
            </a:extLst>
          </p:cNvPr>
          <p:cNvSpPr/>
          <p:nvPr/>
        </p:nvSpPr>
        <p:spPr>
          <a:xfrm>
            <a:off x="5939961" y="1110126"/>
            <a:ext cx="2051078" cy="12030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downloadFileTemplate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getAllBeneficiariesByFileId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approveFile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getFileSummary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getFileErrorsList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updateFileStatus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getDraftFilesForClient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getAllUploadedFilesForClient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800" err="1">
                <a:solidFill>
                  <a:schemeClr val="tx1"/>
                </a:solidFill>
                <a:ea typeface="+mn-lt"/>
                <a:cs typeface="+mn-lt"/>
              </a:rPr>
              <a:t>deletedFile</a:t>
            </a:r>
            <a:endParaRPr lang="en-US" err="1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C1EAD3-5B95-5EF6-F4C2-7404502D2F6F}"/>
              </a:ext>
            </a:extLst>
          </p:cNvPr>
          <p:cNvSpPr/>
          <p:nvPr/>
        </p:nvSpPr>
        <p:spPr>
          <a:xfrm>
            <a:off x="919902" y="4539392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>
                <a:ea typeface="+mn-lt"/>
                <a:cs typeface="+mn-lt"/>
              </a:rPr>
              <a:t>Account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6CD272-9D00-3C81-80B4-CC7E7DF3926C}"/>
              </a:ext>
            </a:extLst>
          </p:cNvPr>
          <p:cNvSpPr/>
          <p:nvPr/>
        </p:nvSpPr>
        <p:spPr>
          <a:xfrm>
            <a:off x="919901" y="4915569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>
                <a:ea typeface="+mn-lt"/>
                <a:cs typeface="+mn-lt"/>
              </a:rPr>
              <a:t>Client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64CCC4-9AE5-7EC0-7621-841769EA076F}"/>
              </a:ext>
            </a:extLst>
          </p:cNvPr>
          <p:cNvSpPr/>
          <p:nvPr/>
        </p:nvSpPr>
        <p:spPr>
          <a:xfrm>
            <a:off x="919902" y="5291746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err="1">
                <a:ea typeface="+mn-lt"/>
                <a:cs typeface="+mn-lt"/>
              </a:rPr>
              <a:t>ClientFeatures</a:t>
            </a:r>
            <a:endParaRPr lang="en-US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285316-2C5F-476E-4CCD-1EFA605CF084}"/>
              </a:ext>
            </a:extLst>
          </p:cNvPr>
          <p:cNvSpPr/>
          <p:nvPr/>
        </p:nvSpPr>
        <p:spPr>
          <a:xfrm>
            <a:off x="919901" y="5667923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>
                <a:ea typeface="+mn-lt"/>
                <a:cs typeface="+mn-lt"/>
              </a:rPr>
              <a:t>Profile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FF150E-23CC-C11F-EFBD-367067D5667C}"/>
              </a:ext>
            </a:extLst>
          </p:cNvPr>
          <p:cNvSpPr/>
          <p:nvPr/>
        </p:nvSpPr>
        <p:spPr>
          <a:xfrm>
            <a:off x="919902" y="6044101"/>
            <a:ext cx="1677065" cy="37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err="1">
                <a:ea typeface="+mn-lt"/>
                <a:cs typeface="+mn-lt"/>
              </a:rPr>
              <a:t>TccAccount</a:t>
            </a:r>
            <a:endParaRPr lang="en-US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24FD96-5B3D-CEB6-1D27-0713673E8B61}"/>
              </a:ext>
            </a:extLst>
          </p:cNvPr>
          <p:cNvSpPr/>
          <p:nvPr/>
        </p:nvSpPr>
        <p:spPr>
          <a:xfrm>
            <a:off x="2598230" y="4539391"/>
            <a:ext cx="1754229" cy="3665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err="1">
                <a:ea typeface="+mn-lt"/>
                <a:cs typeface="+mn-lt"/>
              </a:rPr>
              <a:t>TccBeneficiary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4A468A-0AE1-4B55-7BB3-2F2EAAC14FFC}"/>
              </a:ext>
            </a:extLst>
          </p:cNvPr>
          <p:cNvSpPr/>
          <p:nvPr/>
        </p:nvSpPr>
        <p:spPr>
          <a:xfrm>
            <a:off x="2598231" y="4915567"/>
            <a:ext cx="1754229" cy="3889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err="1">
                <a:ea typeface="+mn-lt"/>
                <a:cs typeface="+mn-lt"/>
              </a:rPr>
              <a:t>TccContact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479217-2A5B-C49B-A336-332FDBB834BE}"/>
              </a:ext>
            </a:extLst>
          </p:cNvPr>
          <p:cNvSpPr/>
          <p:nvPr/>
        </p:nvSpPr>
        <p:spPr>
          <a:xfrm>
            <a:off x="2598230" y="5291746"/>
            <a:ext cx="1754229" cy="379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err="1">
                <a:ea typeface="+mn-lt"/>
                <a:cs typeface="+mn-lt"/>
              </a:rPr>
              <a:t>TccPaymentPurposeCode</a:t>
            </a:r>
            <a:endParaRPr lang="en-US" err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0F3924-1933-DA81-27CD-3B2200278380}"/>
              </a:ext>
            </a:extLst>
          </p:cNvPr>
          <p:cNvSpPr/>
          <p:nvPr/>
        </p:nvSpPr>
        <p:spPr>
          <a:xfrm>
            <a:off x="2598231" y="5667925"/>
            <a:ext cx="1754229" cy="379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>
                <a:ea typeface="+mn-lt"/>
                <a:cs typeface="+mn-lt"/>
              </a:rPr>
              <a:t>User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7EC9AE-F1BF-E780-6165-93D02BB77CA9}"/>
              </a:ext>
            </a:extLst>
          </p:cNvPr>
          <p:cNvSpPr/>
          <p:nvPr/>
        </p:nvSpPr>
        <p:spPr>
          <a:xfrm>
            <a:off x="821769" y="4260555"/>
            <a:ext cx="3657667" cy="229795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1200">
                <a:ea typeface="+mn-lt"/>
                <a:cs typeface="+mn-lt"/>
              </a:rPr>
              <a:t>Volopa standard models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7F8CB-A367-91A4-1AF1-9656746763A2}"/>
              </a:ext>
            </a:extLst>
          </p:cNvPr>
          <p:cNvSpPr/>
          <p:nvPr/>
        </p:nvSpPr>
        <p:spPr>
          <a:xfrm>
            <a:off x="4887448" y="136632"/>
            <a:ext cx="2051078" cy="2307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  <a:ea typeface="+mn-lt"/>
                <a:cs typeface="+mn-lt"/>
              </a:rPr>
              <a:t>routes/</a:t>
            </a:r>
            <a:r>
              <a:rPr lang="en-GB" sz="1000" err="1">
                <a:solidFill>
                  <a:schemeClr val="tx1"/>
                </a:solidFill>
                <a:ea typeface="+mn-lt"/>
                <a:cs typeface="+mn-lt"/>
              </a:rPr>
              <a:t>api.php</a:t>
            </a:r>
            <a:r>
              <a:rPr lang="en-GB" sz="100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0E8520-DD5A-37BE-1BEB-95F5020F0DB4}"/>
              </a:ext>
            </a:extLst>
          </p:cNvPr>
          <p:cNvCxnSpPr>
            <a:cxnSpLocks/>
            <a:stCxn id="20" idx="2"/>
            <a:endCxn id="13" idx="0"/>
          </p:cNvCxnSpPr>
          <p:nvPr/>
        </p:nvCxnSpPr>
        <p:spPr>
          <a:xfrm flipH="1">
            <a:off x="3567698" y="1473497"/>
            <a:ext cx="1160030" cy="32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394ECF-5559-1F34-CEBF-E613C4F2D482}"/>
              </a:ext>
            </a:extLst>
          </p:cNvPr>
          <p:cNvCxnSpPr>
            <a:stCxn id="33" idx="2"/>
            <a:endCxn id="19" idx="0"/>
          </p:cNvCxnSpPr>
          <p:nvPr/>
        </p:nvCxnSpPr>
        <p:spPr>
          <a:xfrm flipH="1">
            <a:off x="4727728" y="367417"/>
            <a:ext cx="1185259" cy="36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AACC85-678F-09E2-F5ED-365C4CD3CB69}"/>
              </a:ext>
            </a:extLst>
          </p:cNvPr>
          <p:cNvCxnSpPr>
            <a:cxnSpLocks/>
            <a:stCxn id="33" idx="2"/>
            <a:endCxn id="21" idx="0"/>
          </p:cNvCxnSpPr>
          <p:nvPr/>
        </p:nvCxnSpPr>
        <p:spPr>
          <a:xfrm>
            <a:off x="5912987" y="367417"/>
            <a:ext cx="1052513" cy="36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7A3746E-DEF6-1673-9EAD-24CB445CAF1A}"/>
              </a:ext>
            </a:extLst>
          </p:cNvPr>
          <p:cNvCxnSpPr>
            <a:stCxn id="22" idx="2"/>
            <a:endCxn id="17" idx="0"/>
          </p:cNvCxnSpPr>
          <p:nvPr/>
        </p:nvCxnSpPr>
        <p:spPr>
          <a:xfrm>
            <a:off x="6965500" y="2313162"/>
            <a:ext cx="276397" cy="631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CA1ED59-3764-AEC5-9E44-CA4E9338F44B}"/>
              </a:ext>
            </a:extLst>
          </p:cNvPr>
          <p:cNvSpPr/>
          <p:nvPr/>
        </p:nvSpPr>
        <p:spPr>
          <a:xfrm>
            <a:off x="4755679" y="4260555"/>
            <a:ext cx="5765911" cy="24035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1200">
                <a:ea typeface="+mn-lt"/>
                <a:cs typeface="+mn-lt"/>
              </a:rPr>
              <a:t>FPS specific models</a:t>
            </a:r>
            <a:endParaRPr lang="en-US"/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19ADDD53-97B2-5CA0-284C-4EC7AB3C2D96}"/>
              </a:ext>
            </a:extLst>
          </p:cNvPr>
          <p:cNvSpPr txBox="1">
            <a:spLocks/>
          </p:cNvSpPr>
          <p:nvPr/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F9A1732-3089-4225-AD0E-B9BFE7E4C638}" type="slidenum">
              <a:rPr lang="en-GB" sz="2000" smtClean="0">
                <a:solidFill>
                  <a:srgbClr val="FFFFFF">
                    <a:lumMod val="60000"/>
                    <a:lumOff val="40000"/>
                  </a:srgbClr>
                </a:solidFill>
                <a:latin typeface="Abadi Extra Light" panose="020B0204020104020204" pitchFamily="34" charset="0"/>
              </a:rPr>
              <a:pPr algn="ctr"/>
              <a:t>10</a:t>
            </a:fld>
            <a:endParaRPr lang="en-GB" sz="2000">
              <a:solidFill>
                <a:srgbClr val="FFFFFF">
                  <a:lumMod val="60000"/>
                  <a:lumOff val="40000"/>
                </a:srgbClr>
              </a:solidFill>
              <a:latin typeface="Abadi Extra Light" panose="020B020402010402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305F9BB-A953-FF62-C134-B8C1B3B15217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flipH="1">
            <a:off x="3366444" y="2452901"/>
            <a:ext cx="201254" cy="318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BC24FD0-D5C1-BD49-BFA8-6CB0DEA41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325880"/>
            <a:ext cx="2919997" cy="4986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000" dirty="0"/>
              <a:t>The client request will start from the top routes and from there, matching the path will be consumed by the specific method in the Controller.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0B3B-CB10-9E26-8A83-7176C7313C50}"/>
              </a:ext>
            </a:extLst>
          </p:cNvPr>
          <p:cNvSpPr txBox="1">
            <a:spLocks/>
          </p:cNvSpPr>
          <p:nvPr/>
        </p:nvSpPr>
        <p:spPr>
          <a:xfrm>
            <a:off x="8177733" y="2041214"/>
            <a:ext cx="2919997" cy="498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/>
              <a:t>Each Controller will use either dedicated services, dispatch a job or directly the model to respond to the request.</a:t>
            </a:r>
          </a:p>
        </p:txBody>
      </p:sp>
    </p:spTree>
    <p:extLst>
      <p:ext uri="{BB962C8B-B14F-4D97-AF65-F5344CB8AC3E}">
        <p14:creationId xmlns:p14="http://schemas.microsoft.com/office/powerpoint/2010/main" val="182070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7C74-8509-9532-D95D-B01B4AD1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1AC3823-E278-E513-91C4-0DCFAB18184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65890" y="6305759"/>
            <a:ext cx="372109" cy="330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lang="en-GB" spc="70" smtClean="0"/>
              <a:pPr marL="38100">
                <a:lnSpc>
                  <a:spcPct val="100000"/>
                </a:lnSpc>
                <a:spcBef>
                  <a:spcPts val="75"/>
                </a:spcBef>
              </a:pPr>
              <a:t>11</a:t>
            </a:fld>
            <a:endParaRPr spc="7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683435C-BF7A-28C8-8264-80903590ADF1}"/>
              </a:ext>
            </a:extLst>
          </p:cNvPr>
          <p:cNvSpPr txBox="1">
            <a:spLocks/>
          </p:cNvSpPr>
          <p:nvPr/>
        </p:nvSpPr>
        <p:spPr>
          <a:xfrm>
            <a:off x="793495" y="192786"/>
            <a:ext cx="5469519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200" b="0" spc="-5">
                <a:latin typeface="Calibri"/>
                <a:cs typeface="Calibri"/>
              </a:rPr>
              <a:t>Mass Payment – System Flow for UPLOAD</a:t>
            </a:r>
          </a:p>
        </p:txBody>
      </p:sp>
      <p:pic>
        <p:nvPicPr>
          <p:cNvPr id="26" name="Picture 25" descr="A diagram of a process&#10;&#10;AI-generated content may be incorrect.">
            <a:extLst>
              <a:ext uri="{FF2B5EF4-FFF2-40B4-BE49-F238E27FC236}">
                <a16:creationId xmlns:a16="http://schemas.microsoft.com/office/drawing/2014/main" id="{308414B0-8F1F-EE55-E4D3-3A5933BC5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96" y="877824"/>
            <a:ext cx="3680510" cy="53576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E764DF-7C23-B2B5-D55D-6D3FA6AAA3DA}"/>
              </a:ext>
            </a:extLst>
          </p:cNvPr>
          <p:cNvSpPr txBox="1"/>
          <p:nvPr/>
        </p:nvSpPr>
        <p:spPr>
          <a:xfrm>
            <a:off x="6263014" y="877824"/>
            <a:ext cx="44263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Upload Payment File</a:t>
            </a:r>
            <a:endParaRPr lang="en-GB" sz="110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>
                <a:effectLst/>
                <a:latin typeface="Calibri" panose="020F0502020204030204" pitchFamily="34" charset="0"/>
              </a:rPr>
              <a:t>The user initiates the process by uploading a bulk payment file through the platform.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Validate File</a:t>
            </a:r>
            <a:endParaRPr lang="en-GB" sz="110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>
                <a:effectLst/>
                <a:latin typeface="Calibri" panose="020F0502020204030204" pitchFamily="34" charset="0"/>
              </a:rPr>
              <a:t>The system (FPS service) automatically validates the file content and format.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Validation Outcome:</a:t>
            </a:r>
            <a:endParaRPr lang="en-GB" sz="110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Failure: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Validation errors are shown.</a:t>
            </a:r>
            <a:br>
              <a:rPr lang="en-GB" sz="1100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User must fix and re-upload the file.</a:t>
            </a: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Success: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Proceed to approval decision based on currency rules.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Approval Requirement Check:</a:t>
            </a:r>
            <a:endParaRPr lang="en-GB" sz="110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If approval is NOT required: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Upload is completed immediately.</a:t>
            </a:r>
            <a:br>
              <a:rPr lang="en-GB" sz="1100">
                <a:effectLst/>
                <a:latin typeface="Calibri" panose="020F0502020204030204" pitchFamily="34" charset="0"/>
              </a:rPr>
            </a:br>
            <a:r>
              <a:rPr lang="en-GB" sz="1100" b="1">
                <a:effectLst/>
                <a:latin typeface="Calibri" panose="020F0502020204030204" pitchFamily="34" charset="0"/>
              </a:rPr>
              <a:t>If approval IS required: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Bell icon notification is dispatched to all approvers.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Approver Interaction:</a:t>
            </a:r>
            <a:endParaRPr lang="en-GB" sz="110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First approver to click notification: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Redirected to Payment Confirmation Page to create the payment.</a:t>
            </a:r>
          </a:p>
          <a:p>
            <a:pPr marL="742950" lvl="1" indent="-285750" rtl="0" fontAlgn="ctr">
              <a:buFont typeface="Arial" panose="020B0604020202020204" pitchFamily="34" charset="0"/>
              <a:buChar char="•"/>
            </a:pPr>
            <a:r>
              <a:rPr lang="en-GB" sz="1100" b="1">
                <a:effectLst/>
                <a:latin typeface="Calibri" panose="020F0502020204030204" pitchFamily="34" charset="0"/>
              </a:rPr>
              <a:t>Other approvers clicking later:</a:t>
            </a:r>
            <a:br>
              <a:rPr lang="en-GB" sz="1100" b="1">
                <a:effectLst/>
                <a:latin typeface="Calibri" panose="020F0502020204030204" pitchFamily="34" charset="0"/>
              </a:rPr>
            </a:br>
            <a:r>
              <a:rPr lang="en-GB" sz="1100">
                <a:effectLst/>
                <a:latin typeface="Segoe UI Symbol" panose="020B0502040204020203" pitchFamily="34" charset="0"/>
              </a:rPr>
              <a:t>➔</a:t>
            </a:r>
            <a:r>
              <a:rPr lang="en-GB" sz="1100">
                <a:effectLst/>
                <a:latin typeface="Calibri" panose="020F0502020204030204" pitchFamily="34" charset="0"/>
              </a:rPr>
              <a:t> Redirected to Draft Payments Page (payment already picked).</a:t>
            </a:r>
          </a:p>
        </p:txBody>
      </p:sp>
    </p:spTree>
    <p:extLst>
      <p:ext uri="{BB962C8B-B14F-4D97-AF65-F5344CB8AC3E}">
        <p14:creationId xmlns:p14="http://schemas.microsoft.com/office/powerpoint/2010/main" val="61320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7D77-EF1E-BDF2-B647-E6CE1C08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7F2CAA0-E7F6-D61F-1075-84A5238CFC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65890" y="6305759"/>
            <a:ext cx="372109" cy="330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lang="en-GB" spc="70" smtClean="0"/>
              <a:pPr marL="38100">
                <a:lnSpc>
                  <a:spcPct val="100000"/>
                </a:lnSpc>
                <a:spcBef>
                  <a:spcPts val="75"/>
                </a:spcBef>
              </a:pPr>
              <a:t>12</a:t>
            </a:fld>
            <a:endParaRPr spc="7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D6CF697-2298-42E9-1D29-E5EA6EB3A5F4}"/>
              </a:ext>
            </a:extLst>
          </p:cNvPr>
          <p:cNvSpPr txBox="1">
            <a:spLocks/>
          </p:cNvSpPr>
          <p:nvPr/>
        </p:nvSpPr>
        <p:spPr>
          <a:xfrm>
            <a:off x="793495" y="192786"/>
            <a:ext cx="5469519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200" b="0" spc="-5">
                <a:latin typeface="Calibri"/>
                <a:cs typeface="Calibri"/>
              </a:rPr>
              <a:t>Mass Payment – Upload CSV 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405CA-D21D-87BE-6EA5-D3DEEF5E3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6" y="1361528"/>
            <a:ext cx="10437924" cy="436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2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681C-2A1E-C2BC-274D-48F60F4B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6F99F11-9877-3016-AE3C-F36B792137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65890" y="6305759"/>
            <a:ext cx="372109" cy="330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lang="en-GB" spc="70" smtClean="0"/>
              <a:pPr marL="38100">
                <a:lnSpc>
                  <a:spcPct val="100000"/>
                </a:lnSpc>
                <a:spcBef>
                  <a:spcPts val="75"/>
                </a:spcBef>
              </a:pPr>
              <a:t>13</a:t>
            </a:fld>
            <a:endParaRPr spc="7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6B7B636-B0AE-C3F4-9E58-55E21C557D17}"/>
              </a:ext>
            </a:extLst>
          </p:cNvPr>
          <p:cNvSpPr txBox="1">
            <a:spLocks/>
          </p:cNvSpPr>
          <p:nvPr/>
        </p:nvSpPr>
        <p:spPr>
          <a:xfrm>
            <a:off x="793495" y="192786"/>
            <a:ext cx="7384196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200" b="0" spc="-5">
                <a:latin typeface="Calibri"/>
                <a:cs typeface="Calibri"/>
              </a:rPr>
              <a:t>Mass Payment – Get Uploaded CSV status Sequence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D3E52-C2FC-7F45-DB16-3A1DD5E93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46" y="798525"/>
            <a:ext cx="9599957" cy="597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252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ew">
  <a:themeElements>
    <a:clrScheme name="Custom 2">
      <a:dk1>
        <a:srgbClr val="E9E5DC"/>
      </a:dk1>
      <a:lt1>
        <a:sysClr val="window" lastClr="FFFFFF"/>
      </a:lt1>
      <a:dk2>
        <a:srgbClr val="00A3AD"/>
      </a:dk2>
      <a:lt2>
        <a:srgbClr val="232425"/>
      </a:lt2>
      <a:accent1>
        <a:srgbClr val="FFFFFF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1">
      <a:majorFont>
        <a:latin typeface="Abadi"/>
        <a:ea typeface=""/>
        <a:cs typeface=""/>
      </a:majorFont>
      <a:minorFont>
        <a:latin typeface="Abadi Extra Light"/>
        <a:ea typeface="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a84071-19de-4ba5-9982-a31d04e401d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4F0FDF5239954AB002F9038A656281" ma:contentTypeVersion="18" ma:contentTypeDescription="Create a new document." ma:contentTypeScope="" ma:versionID="67f5272dc6b232c6147ed29bfb399d40">
  <xsd:schema xmlns:xsd="http://www.w3.org/2001/XMLSchema" xmlns:xs="http://www.w3.org/2001/XMLSchema" xmlns:p="http://schemas.microsoft.com/office/2006/metadata/properties" xmlns:ns3="69d0d399-db3c-4520-bb62-633eccec4b8d" xmlns:ns4="a8a84071-19de-4ba5-9982-a31d04e401d9" targetNamespace="http://schemas.microsoft.com/office/2006/metadata/properties" ma:root="true" ma:fieldsID="9c79fe418ba343d28d5573921dc79da6" ns3:_="" ns4:_="">
    <xsd:import namespace="69d0d399-db3c-4520-bb62-633eccec4b8d"/>
    <xsd:import namespace="a8a84071-19de-4ba5-9982-a31d04e401d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_activity" minOccurs="0"/>
                <xsd:element ref="ns4:MediaLengthInSeconds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d0d399-db3c-4520-bb62-633eccec4b8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84071-19de-4ba5-9982-a31d04e40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3C34F5-0965-45D8-ABCF-5D18D00FA8EF}">
  <ds:schemaRefs>
    <ds:schemaRef ds:uri="http://purl.org/dc/elements/1.1/"/>
    <ds:schemaRef ds:uri="a8a84071-19de-4ba5-9982-a31d04e401d9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69d0d399-db3c-4520-bb62-633eccec4b8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422F1AE-4123-4363-B6F6-1532A250B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AEA80C-A48D-4583-80FE-BBC6EED3DB3A}">
  <ds:schemaRefs>
    <ds:schemaRef ds:uri="69d0d399-db3c-4520-bb62-633eccec4b8d"/>
    <ds:schemaRef ds:uri="a8a84071-19de-4ba5-9982-a31d04e401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1117</Words>
  <Application>Microsoft Office PowerPoint</Application>
  <PresentationFormat>Widescreen</PresentationFormat>
  <Paragraphs>211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Abadi Extra Light</vt:lpstr>
      <vt:lpstr>Aptos</vt:lpstr>
      <vt:lpstr>Arial</vt:lpstr>
      <vt:lpstr>Calibri</vt:lpstr>
      <vt:lpstr>Calibri Light</vt:lpstr>
      <vt:lpstr>Segoe UI Symbol</vt:lpstr>
      <vt:lpstr>Wingdings 2</vt:lpstr>
      <vt:lpstr>1_Office Theme</vt:lpstr>
      <vt:lpstr>View</vt:lpstr>
      <vt:lpstr>Mass Payments POC</vt:lpstr>
      <vt:lpstr>Payments Mass Payments - Overview</vt:lpstr>
      <vt:lpstr>PowerPoint Presentation</vt:lpstr>
      <vt:lpstr>Lofi Wire Frames</vt:lpstr>
      <vt:lpstr>Payments File Upload - Location</vt:lpstr>
      <vt:lpstr>Payments File Upload – Journey 1</vt:lpstr>
      <vt:lpstr>Payments File Upload – Journey 2</vt:lpstr>
      <vt:lpstr>Payments File Upload – Journey 3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Releases Q2-4</dc:title>
  <dc:creator>Harry</dc:creator>
  <cp:lastModifiedBy>Alex Ceaki-Voitinovici</cp:lastModifiedBy>
  <cp:revision>2</cp:revision>
  <dcterms:created xsi:type="dcterms:W3CDTF">2022-03-08T16:14:04Z</dcterms:created>
  <dcterms:modified xsi:type="dcterms:W3CDTF">2025-09-04T16:46:17Z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0x010100C84F0FDF5239954AB002F9038A656281</vt:lpwstr>
  </property>
</Properties>
</file>